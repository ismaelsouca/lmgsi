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y="5143500" cx="9144000"/>
  <p:notesSz cx="6858000" cy="9144000"/>
  <p:embeddedFontLst>
    <p:embeddedFont>
      <p:font typeface="Source Code Pro"/>
      <p:regular r:id="rId82"/>
      <p:bold r:id="rId83"/>
      <p:italic r:id="rId84"/>
      <p:boldItalic r:id="rId85"/>
    </p:embeddedFont>
    <p:embeddedFont>
      <p:font typeface="Roboto Mono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SourceCodePro-italic.fntdata"/><Relationship Id="rId83" Type="http://schemas.openxmlformats.org/officeDocument/2006/relationships/font" Target="fonts/SourceCodePro-bold.fntdata"/><Relationship Id="rId42" Type="http://schemas.openxmlformats.org/officeDocument/2006/relationships/slide" Target="slides/slide37.xml"/><Relationship Id="rId86" Type="http://schemas.openxmlformats.org/officeDocument/2006/relationships/font" Target="fonts/RobotoMono-regular.fntdata"/><Relationship Id="rId41" Type="http://schemas.openxmlformats.org/officeDocument/2006/relationships/slide" Target="slides/slide36.xml"/><Relationship Id="rId85" Type="http://schemas.openxmlformats.org/officeDocument/2006/relationships/font" Target="fonts/SourceCodePro-boldItalic.fntdata"/><Relationship Id="rId44" Type="http://schemas.openxmlformats.org/officeDocument/2006/relationships/slide" Target="slides/slide39.xml"/><Relationship Id="rId88" Type="http://schemas.openxmlformats.org/officeDocument/2006/relationships/font" Target="fonts/RobotoMono-italic.fntdata"/><Relationship Id="rId43" Type="http://schemas.openxmlformats.org/officeDocument/2006/relationships/slide" Target="slides/slide38.xml"/><Relationship Id="rId87" Type="http://schemas.openxmlformats.org/officeDocument/2006/relationships/font" Target="fonts/RobotoMono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Mono-boldItalic.fntdata"/><Relationship Id="rId80" Type="http://schemas.openxmlformats.org/officeDocument/2006/relationships/slide" Target="slides/slide75.xml"/><Relationship Id="rId82" Type="http://schemas.openxmlformats.org/officeDocument/2006/relationships/font" Target="fonts/SourceCodePro-regular.fntdata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dda2464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dda2464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dda2464c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dda2464c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dda2464c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dda2464c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dda2464c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dda2464c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da2464c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dda2464c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da2464c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da2464c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dda2464c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dda2464c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da2464c4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da2464c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da2464c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da2464c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dda2464c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dda2464c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da2464c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dda2464c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dda2464c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dda2464c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dda2464c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dda2464c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dda2464c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dda2464c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da2464c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da2464c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da2464c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da2464c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da2464c4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dda2464c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dda2464c4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dda2464c4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dda2464c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dda2464c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dda2464c4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dda2464c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dda2464c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dda2464c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dda2464c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dda2464c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da2464c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dda2464c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dda2464c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dda2464c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dda2464c4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dda2464c4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dda2464c4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dda2464c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dda2464c4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dda2464c4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dda2464c4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dda2464c4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dda2464c4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dda2464c4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dda2464c4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dda2464c4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dda2464c4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dda2464c4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dda2464c4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dda2464c4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dda2464c4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8dda2464c4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c133248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c133248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c133248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c133248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c1332485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c1332485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c1332485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c1332485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c1332485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c1332485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c1332485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c1332485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c1332485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c1332485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c1332485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c1332485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c1332485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c1332485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c1332485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c1332485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c1332485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9c1332485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c1332485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9c1332485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c1332485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c1332485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c1332485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c1332485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c1332485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c1332485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c1332485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9c1332485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c1332485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9c1332485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c1332485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c1332485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9c1332485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9c1332485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c1332485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9c1332485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c1332485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c1332485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c1332485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9c1332485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9c1332485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9c1332485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9c1332485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9c1332485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c15702ae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9c15702ae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c15702ae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c15702ae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c15702ae7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9c15702ae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9c15702ae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9c15702ae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c15702ae7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9c15702ae7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cc1b5f4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9cc1b5f4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cc1b5f4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9cc1b5f4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9cc1b5f46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9cc1b5f46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9cc1b5f46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9cc1b5f46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9cc1b5f46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9cc1b5f46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9cc1b5f46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9cc1b5f46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cc1b5f46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cc1b5f46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9cc1b5f46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9cc1b5f46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9cc1b5f46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9cc1b5f46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9c15702ae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9c15702ae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ee8b3a5b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9ee8b3a5b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9ee8b3a5b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9ee8b3a5b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ee8b3a5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9ee8b3a5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46277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 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ochaochao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1009650"/>
            <a:ext cx="60960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s">
  <p:cSld name="CUSTOM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2" title="obras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89800" y="722987"/>
            <a:ext cx="2764400" cy="369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do listo jefe">
  <p:cSld name="CUSTOM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 title="todo listo jefe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33254" y="911637"/>
            <a:ext cx="3277500" cy="33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  </a:t>
            </a:r>
            <a:endParaRPr/>
          </a:p>
        </p:txBody>
      </p:sp>
      <p:sp>
        <p:nvSpPr>
          <p:cNvPr id="56" name="Google Shape;56;p1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Code Pro"/>
              <a:buNone/>
              <a:defRPr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.mozilla.org/es/docs/Web/CS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.org/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www.w3schools.com/css/css3_flexbox.asp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UD 03 - Definición de estilos en entornos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de contenidos</a:t>
            </a:r>
            <a:endParaRPr/>
          </a:p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990000"/>
            <a:ext cx="431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1 - Introducci</a:t>
            </a:r>
            <a:r>
              <a:rPr lang="es"/>
              <a:t>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2 - </a:t>
            </a:r>
            <a:r>
              <a:rPr lang="es"/>
              <a:t>Sintaxis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3 - </a:t>
            </a:r>
            <a:r>
              <a:rPr lang="es"/>
              <a:t>Formas de aplicar CSS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4 - Selectores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625700" y="990000"/>
            <a:ext cx="4399200" cy="25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829"/>
              <a:t>6</a:t>
            </a:r>
            <a:r>
              <a:rPr lang="es" sz="1829"/>
              <a:t> - Propiedades más comunes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829"/>
              <a:t>7 - Unidades y medidas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829"/>
              <a:t>8 - Responsive Design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829"/>
              <a:t>9 - Animaciones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" sz="1829"/>
              <a:t>10</a:t>
            </a:r>
            <a:r>
              <a:rPr lang="es" sz="1829"/>
              <a:t> - Buenas prácticas y organización</a:t>
            </a:r>
            <a:endParaRPr sz="1829"/>
          </a:p>
        </p:txBody>
      </p:sp>
      <p:sp>
        <p:nvSpPr>
          <p:cNvPr id="69" name="Google Shape;69;p17"/>
          <p:cNvSpPr txBox="1"/>
          <p:nvPr/>
        </p:nvSpPr>
        <p:spPr>
          <a:xfrm>
            <a:off x="748950" y="4582600"/>
            <a:ext cx="76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Consulta la información actualizada aquí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1 - Introducción</a:t>
            </a:r>
            <a:endParaRPr/>
          </a:p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Lenguaje que </a:t>
            </a:r>
            <a:r>
              <a:rPr b="1" lang="es"/>
              <a:t>define la presentación de documentos</a:t>
            </a:r>
            <a:r>
              <a:rPr lang="es"/>
              <a:t> HTML o XML.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Indica cómo se muestran los elementos en pantalla, papel u otros medios.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 un lenguaje estandarizado por el </a:t>
            </a:r>
            <a:r>
              <a:rPr b="1" lang="es" u="sng">
                <a:solidFill>
                  <a:schemeClr val="hlink"/>
                </a:solidFill>
                <a:hlinkClick r:id="rId3"/>
              </a:rPr>
              <a:t>W3C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Antes existían versiones (CSS1, CSS2.1 y CSS3), pero no hay CSS4 oficial.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Desde CSS3, </a:t>
            </a:r>
            <a:r>
              <a:rPr b="1" lang="es"/>
              <a:t>las especificaciones se dividen en módulos</a:t>
            </a:r>
            <a:r>
              <a:rPr lang="es"/>
              <a:t> independientes, actualizados de forma separada en lugar de versionarse.</a:t>
            </a:r>
            <a:endParaRPr/>
          </a:p>
        </p:txBody>
      </p:sp>
      <p:sp>
        <p:nvSpPr>
          <p:cNvPr id="76" name="Google Shape;76;p1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(Hojas de Estilo en Cascada)</a:t>
            </a:r>
            <a:endParaRPr/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5025" y="0"/>
            <a:ext cx="1568975" cy="15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1 - Introducción</a:t>
            </a:r>
            <a:endParaRPr/>
          </a:p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Realmente </a:t>
            </a:r>
            <a:r>
              <a:rPr b="1" lang="es"/>
              <a:t>NO </a:t>
            </a:r>
            <a:r>
              <a:rPr lang="es"/>
              <a:t>es un lenguaje de programación (¿?)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Tampoco es un lenguaje de marcado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 lenguaje de de </a:t>
            </a:r>
            <a:r>
              <a:rPr b="1" lang="es"/>
              <a:t>hojas de estilo. </a:t>
            </a:r>
            <a:r>
              <a:rPr lang="es"/>
              <a:t>Permite aplicar estilos de manera </a:t>
            </a:r>
            <a:r>
              <a:rPr b="1" lang="es">
                <a:solidFill>
                  <a:srgbClr val="A64D79"/>
                </a:solidFill>
              </a:rPr>
              <a:t>selectiva</a:t>
            </a:r>
            <a:r>
              <a:rPr lang="es"/>
              <a:t> a elementos en documentos HTML.</a:t>
            </a:r>
            <a:endParaRPr/>
          </a:p>
        </p:txBody>
      </p:sp>
      <p:sp>
        <p:nvSpPr>
          <p:cNvPr id="84" name="Google Shape;84;p1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es CSS realmente</a:t>
            </a:r>
            <a:r>
              <a:rPr lang="es"/>
              <a:t>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1 - Introducción</a:t>
            </a:r>
            <a:endParaRPr/>
          </a:p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ejemplo, podemos seleccionar </a:t>
            </a:r>
            <a:r>
              <a:rPr b="1" lang="es"/>
              <a:t>todos</a:t>
            </a:r>
            <a:r>
              <a:rPr lang="es"/>
              <a:t> los p</a:t>
            </a:r>
            <a:r>
              <a:rPr lang="es"/>
              <a:t>árrafos (&lt;p&gt;) de un documentos y establecer el </a:t>
            </a:r>
            <a:r>
              <a:rPr b="1" lang="es">
                <a:solidFill>
                  <a:srgbClr val="880000"/>
                </a:solidFill>
              </a:rPr>
              <a:t>color del texto</a:t>
            </a:r>
            <a:r>
              <a:rPr lang="es"/>
              <a:t> rojo de la siguiente manera: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CSS realmente?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2 - </a:t>
            </a:r>
            <a:r>
              <a:rPr lang="es"/>
              <a:t>Sintaxis</a:t>
            </a:r>
            <a:endParaRPr/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regla CSS se compone 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s"/>
              <a:t>Selector</a:t>
            </a:r>
            <a:r>
              <a:rPr lang="es"/>
              <a:t>: Indica el elemento HTML a estilizar.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s"/>
              <a:t>Bloque de declaración</a:t>
            </a:r>
            <a:r>
              <a:rPr lang="es"/>
              <a:t>: Contiene una o más declaraciones separadas por punto y coma.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declaración incluye una </a:t>
            </a:r>
            <a:r>
              <a:rPr b="1" lang="es"/>
              <a:t>propiedad</a:t>
            </a:r>
            <a:r>
              <a:rPr lang="es"/>
              <a:t> y un </a:t>
            </a:r>
            <a:r>
              <a:rPr b="1" lang="es"/>
              <a:t>valor</a:t>
            </a:r>
            <a:r>
              <a:rPr lang="es"/>
              <a:t>, separados por dos puntos.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bloque de declaración se encierra entre llaves { }.</a:t>
            </a:r>
            <a:endParaRPr/>
          </a:p>
        </p:txBody>
      </p:sp>
      <p:pic>
        <p:nvPicPr>
          <p:cNvPr id="98" name="Google Shape;98;p21" title="Captura de pantalla 2025-10-17 a las 10.40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200" y="-3"/>
            <a:ext cx="4463800" cy="114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2 - Sintaxis</a:t>
            </a:r>
            <a:endParaRPr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center;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Explicación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 -&gt; selector (aplica a todos los párrafos &lt;p&gt;)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color: red; -&gt; Texto en color rojo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text-align: center; -&gt; Texto centrado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3 - Formas de aplicar CSS</a:t>
            </a:r>
            <a:endParaRPr/>
          </a:p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Existen tres maneras principales de aplicar estilos CSS a una página HTML: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CSS en línea (inline)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CSS interno (internal)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CSS externo (external)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3 - Formas de aplicar CSS</a:t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1709200"/>
            <a:ext cx="8520600" cy="3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escribe directamente en el atributo style de una etiqueta HTML.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Afecta solo a ese elemento.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s" sz="15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5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5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"color: red; text-align: center;"</a:t>
            </a:r>
            <a:r>
              <a:rPr lang="es" sz="15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Texto en rojo y centrado</a:t>
            </a:r>
            <a:r>
              <a:rPr lang="es" sz="15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5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5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Rápido para pruebas o cambios puntuales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Inconvenientes: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 reutilizable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Dificulta el mantenimiento del código</a:t>
            </a:r>
            <a:endParaRPr/>
          </a:p>
        </p:txBody>
      </p:sp>
      <p:sp>
        <p:nvSpPr>
          <p:cNvPr id="117" name="Google Shape;117;p2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en línea (inline)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3 - Formas de aplicar CSS</a:t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define dentro del documento HTML, en la etiqueta &lt;style&gt; ubicada en el &lt;head&gt;.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6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s" sz="1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blue;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s" sz="1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center;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s" sz="1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interno (internal)</a:t>
            </a:r>
            <a:endParaRPr/>
          </a:p>
        </p:txBody>
      </p:sp>
      <p:sp>
        <p:nvSpPr>
          <p:cNvPr id="125" name="Google Shape;125;p25"/>
          <p:cNvSpPr txBox="1"/>
          <p:nvPr/>
        </p:nvSpPr>
        <p:spPr>
          <a:xfrm>
            <a:off x="3505850" y="2169150"/>
            <a:ext cx="5434800" cy="2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Ventajas: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</a:pP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Mantiene el estilo en un solo lugar.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</a:pP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Útil para páginas pequeñas.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Inconvenientes:</a:t>
            </a:r>
            <a:endParaRPr b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</a:pP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 se puede reutilizar entre varios archivos.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3 - Formas de aplicar CSS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709200"/>
            <a:ext cx="8520600" cy="3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guarda en un archivo separado con extensión .css, enlazado mediante la etiqueta &lt;link&gt;.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"estilos.css"</a:t>
            </a:r>
            <a:r>
              <a:rPr lang="es" sz="1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green;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center;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externo (external)</a:t>
            </a:r>
            <a:endParaRPr/>
          </a:p>
        </p:txBody>
      </p:sp>
      <p:sp>
        <p:nvSpPr>
          <p:cNvPr id="133" name="Google Shape;133;p26"/>
          <p:cNvSpPr txBox="1"/>
          <p:nvPr/>
        </p:nvSpPr>
        <p:spPr>
          <a:xfrm>
            <a:off x="3073625" y="2801475"/>
            <a:ext cx="5867100" cy="20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Ventajas:</a:t>
            </a:r>
            <a:endParaRPr b="1"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Reutilizable en muchas páginas.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Facilita el mantenimiento y la organización.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Carga más rápida del sitio (por caché).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Inconvenientes:</a:t>
            </a:r>
            <a:endParaRPr b="1"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Requiere un archivo adicional (no funciona sin conexión si no está cargado).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Permiten </a:t>
            </a:r>
            <a:r>
              <a:rPr b="1" lang="es"/>
              <a:t>elegir los elementos HTML</a:t>
            </a:r>
            <a:r>
              <a:rPr lang="es"/>
              <a:t> a los que se aplicarán estilos.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Tipos principales de selectores: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Simples</a:t>
            </a:r>
            <a:r>
              <a:rPr lang="es"/>
              <a:t>: por nombre, id o clase.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Combinadores</a:t>
            </a:r>
            <a:r>
              <a:rPr lang="es"/>
              <a:t>: según la relación entre elementos.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Pseudo-clases</a:t>
            </a:r>
            <a:r>
              <a:rPr lang="es"/>
              <a:t>: según el estado del elemento.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Pseudo-elementos</a:t>
            </a:r>
            <a:r>
              <a:rPr lang="es"/>
              <a:t>: para partes específicas de un elemento.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De atributo:</a:t>
            </a:r>
            <a:r>
              <a:rPr lang="es"/>
              <a:t> atributo o valor específico.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basan en nombre, id o clase de los elementos.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Elemento</a:t>
            </a:r>
            <a:r>
              <a:rPr lang="es"/>
              <a:t>: p { color: red;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Identificador: </a:t>
            </a:r>
            <a:r>
              <a:rPr lang="es"/>
              <a:t>#titulo { text-align: center;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Clase:</a:t>
            </a:r>
            <a:r>
              <a:rPr lang="es"/>
              <a:t> .center { text-align: center; color: blue;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Universal</a:t>
            </a:r>
            <a:r>
              <a:rPr lang="es"/>
              <a:t>: * { margin: 0; padding: 0;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Agrupado</a:t>
            </a:r>
            <a:r>
              <a:rPr lang="es"/>
              <a:t>: h1, h2, p { color: red; text-align: center; }</a:t>
            </a:r>
            <a:endParaRPr b="1"/>
          </a:p>
        </p:txBody>
      </p:sp>
      <p:sp>
        <p:nvSpPr>
          <p:cNvPr id="146" name="Google Shape;146;p2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Selectores simples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Aplican estilos según la relación entre elementos.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Descendiente (espacio): </a:t>
            </a:r>
            <a:r>
              <a:rPr lang="es"/>
              <a:t>div p { color: blue;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Hijo directo (&gt;): </a:t>
            </a:r>
            <a:r>
              <a:rPr lang="es"/>
              <a:t>div &gt; p { color: green;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Hermano adyacente (+): </a:t>
            </a:r>
            <a:r>
              <a:rPr lang="es"/>
              <a:t>h1 + p { color: red;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Hermanos generales (~): </a:t>
            </a:r>
            <a:r>
              <a:rPr lang="es"/>
              <a:t>h1 ~ p { color: orange; }</a:t>
            </a:r>
            <a:endParaRPr/>
          </a:p>
        </p:txBody>
      </p:sp>
      <p:sp>
        <p:nvSpPr>
          <p:cNvPr id="153" name="Google Shape;153;p2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Selectores combinadores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Seleccionan elementos según su estado.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a:hover</a:t>
            </a:r>
            <a:r>
              <a:rPr lang="es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 }        </a:t>
            </a:r>
            <a:r>
              <a:rPr lang="es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Cuando el cursor está sobre un enlace */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p:first-child</a:t>
            </a:r>
            <a:r>
              <a:rPr lang="es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lang="es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bold; }</a:t>
            </a:r>
            <a:r>
              <a:rPr lang="es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/*Primer párrafo dentro de un contenedor*/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60" name="Google Shape;160;p3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Pseudo-clases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Permiten aplicar estilo a partes específicas de un elemento.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p::first-letter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2em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p::before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"Nota: "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gray;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67" name="Google Shape;167;p3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Pseudo-elementos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4 - Selectores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Seleccionan elementos según atributos o valores específicos.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2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{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1px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solid #ccc; 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2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"_blank"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{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green; 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74" name="Google Shape;174;p3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Selectores de atributo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“Cascada” determina qué estilos se aplican cuando hay conflictos.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especificidad establece la prioridad entre reglas CSS.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CSS combina estas reglas para decidir el estilo final de un elemento.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Recordar: </a:t>
            </a:r>
            <a:r>
              <a:rPr b="1" lang="es"/>
              <a:t>no siempre gana la última regla escrita, sino la más específica.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Origen del estilo: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Navegador &lt; Usuario &lt; Autor (HTML/Archivo CSS)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Importancia: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Normal &lt; !important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Especificidad: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Selector más específico &gt; menos específico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Orden de aparición: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Última regla escrita gana si tienen igual especificidad</a:t>
            </a:r>
            <a:endParaRPr/>
          </a:p>
        </p:txBody>
      </p:sp>
      <p:sp>
        <p:nvSpPr>
          <p:cNvPr id="187" name="Google Shape;187;p3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la cascada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 de especificidad (mayor a menor):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Inline style:</a:t>
            </a:r>
            <a:r>
              <a:rPr lang="es"/>
              <a:t> style="..." → 1000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ID selector:</a:t>
            </a:r>
            <a:r>
              <a:rPr lang="es"/>
              <a:t> #id → 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Clase, pseudo-clase, atributo:</a:t>
            </a:r>
            <a:r>
              <a:rPr lang="es"/>
              <a:t> .clase, :hover, [type="text"] →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Elemento, pseudo-elemento:</a:t>
            </a:r>
            <a:r>
              <a:rPr lang="es"/>
              <a:t> p, h1, ::before → 1</a:t>
            </a:r>
            <a:endParaRPr/>
          </a:p>
        </p:txBody>
      </p:sp>
      <p:sp>
        <p:nvSpPr>
          <p:cNvPr id="194" name="Google Shape;194;p3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Especificidad – Cómo se calcula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279675" y="1709225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 de especificidad (mayor a menor):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blue; }         </a:t>
            </a:r>
            <a:r>
              <a:rPr lang="es" sz="1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1 */</a:t>
            </a:r>
            <a:endParaRPr sz="1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.texto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green; }   </a:t>
            </a:r>
            <a:r>
              <a:rPr lang="es" sz="1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10 */</a:t>
            </a:r>
            <a:endParaRPr sz="1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#titulo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 }     </a:t>
            </a:r>
            <a:r>
              <a:rPr lang="es" sz="1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100 */</a:t>
            </a:r>
            <a:endParaRPr sz="1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"titulo"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"texto"</a:t>
            </a:r>
            <a:r>
              <a:rPr lang="es" sz="1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Hola</a:t>
            </a:r>
            <a:r>
              <a:rPr lang="es" sz="1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1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Resultado:</a:t>
            </a:r>
            <a:r>
              <a:rPr lang="es"/>
              <a:t> rojo, porque el ID tiene mayor especificidad.</a:t>
            </a:r>
            <a:endParaRPr/>
          </a:p>
        </p:txBody>
      </p:sp>
      <p:sp>
        <p:nvSpPr>
          <p:cNvPr id="201" name="Google Shape;201;p3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Especificidad – Cómo se calcula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5 - Cascada y Especificidad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279675" y="1709225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Fuerza la aplicación de una regla, ignorando la cascada normal.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debe usar con moderación.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2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2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2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blue </a:t>
            </a:r>
            <a:r>
              <a:rPr lang="es" sz="2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!important</a:t>
            </a:r>
            <a:r>
              <a:rPr lang="es" sz="2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2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2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2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2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Resultado:</a:t>
            </a:r>
            <a:r>
              <a:rPr lang="es"/>
              <a:t> azul, aunque la segunda regla aparezca después.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Nota:</a:t>
            </a:r>
            <a:r>
              <a:rPr lang="es"/>
              <a:t> Abusar de </a:t>
            </a:r>
            <a:r>
              <a:rPr b="1" lang="es">
                <a:solidFill>
                  <a:srgbClr val="6AA84F"/>
                </a:solidFill>
              </a:rPr>
              <a:t>!important</a:t>
            </a:r>
            <a:r>
              <a:rPr lang="es"/>
              <a:t> puede complicar el mantenimiento del CSS.</a:t>
            </a:r>
            <a:endParaRPr/>
          </a:p>
        </p:txBody>
      </p:sp>
      <p:sp>
        <p:nvSpPr>
          <p:cNvPr id="208" name="Google Shape;208;p3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!important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6 - Propiedades más comunes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propiedades CSS permiten </a:t>
            </a:r>
            <a:r>
              <a:rPr b="1" lang="es"/>
              <a:t>controlar la apariencia</a:t>
            </a:r>
            <a:r>
              <a:rPr lang="es"/>
              <a:t> de los elementos en la página web.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dividen en categorías: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Color y fondo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Cajas y espaciado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Diseño visual y posicionamiento</a:t>
            </a:r>
            <a:endParaRPr/>
          </a:p>
        </p:txBody>
      </p:sp>
      <p:sp>
        <p:nvSpPr>
          <p:cNvPr id="215" name="Google Shape;215;p3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CSS más comunes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6 - Propiedades más comunes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Controla el color del texto, fondos y bordes.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Propiedades: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color</a:t>
            </a:r>
            <a:r>
              <a:rPr lang="es"/>
              <a:t> -&gt; color del texto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background-color</a:t>
            </a:r>
            <a:r>
              <a:rPr lang="es"/>
              <a:t> -&gt; color de fondo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background-image</a:t>
            </a:r>
            <a:r>
              <a:rPr lang="es"/>
              <a:t> -&gt; imagen de fondo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51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051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05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white;</a:t>
            </a:r>
            <a:endParaRPr sz="2051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05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black;</a:t>
            </a:r>
            <a:endParaRPr sz="2051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05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background-image</a:t>
            </a: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url(</a:t>
            </a:r>
            <a:r>
              <a:rPr lang="es" sz="205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'fondo.jpg'</a:t>
            </a: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51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5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951"/>
          </a:p>
        </p:txBody>
      </p:sp>
      <p:sp>
        <p:nvSpPr>
          <p:cNvPr id="222" name="Google Shape;222;p3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 y fondo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6 - Propiedades más comunes</a:t>
            </a:r>
            <a:endParaRPr/>
          </a:p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1709200"/>
            <a:ext cx="51828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Controla la tipografía y la presentación del texto.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Propiedades: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font-size -&gt; </a:t>
            </a:r>
            <a:r>
              <a:rPr lang="es"/>
              <a:t>tamaño de letra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font-family -&gt;</a:t>
            </a:r>
            <a:r>
              <a:rPr lang="es"/>
              <a:t> tipo de letra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text-align -&gt; </a:t>
            </a:r>
            <a:r>
              <a:rPr lang="es"/>
              <a:t>alineación del 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text-decoration -&gt;</a:t>
            </a:r>
            <a:r>
              <a:rPr lang="es"/>
              <a:t> subrayado, línea sobre o tachado</a:t>
            </a:r>
            <a:endParaRPr sz="2051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4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Texto</a:t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4849600" y="2286025"/>
            <a:ext cx="4694400" cy="22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75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75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675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24px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75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75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Arial, sans-serif;</a:t>
            </a:r>
            <a:endParaRPr sz="1675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75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center;</a:t>
            </a:r>
            <a:endParaRPr sz="1675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75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underline;</a:t>
            </a:r>
            <a:endParaRPr sz="1675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75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6 - Propiedades más comunes</a:t>
            </a:r>
            <a:endParaRPr/>
          </a:p>
        </p:txBody>
      </p:sp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311700" y="1709200"/>
            <a:ext cx="55665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Controla el tamaño, margen, relleno y borde de los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Propiedades: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width / height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ancho y alto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margin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espacio fuera del elemento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padding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espacio dentro del elemento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border -&gt; </a:t>
            </a:r>
            <a:r>
              <a:rPr lang="es"/>
              <a:t>borde</a:t>
            </a:r>
            <a:endParaRPr sz="2951"/>
          </a:p>
        </p:txBody>
      </p:sp>
      <p:sp>
        <p:nvSpPr>
          <p:cNvPr id="237" name="Google Shape;237;p4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Cajas y espaciado</a:t>
            </a:r>
            <a:endParaRPr/>
          </a:p>
        </p:txBody>
      </p:sp>
      <p:sp>
        <p:nvSpPr>
          <p:cNvPr id="238" name="Google Shape;238;p41"/>
          <p:cNvSpPr txBox="1"/>
          <p:nvPr/>
        </p:nvSpPr>
        <p:spPr>
          <a:xfrm>
            <a:off x="5698650" y="1787975"/>
            <a:ext cx="33717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49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49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49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49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49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49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49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49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5px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49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49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2px</a:t>
            </a: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solid black;</a:t>
            </a:r>
            <a:endParaRPr sz="1549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" sz="1549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idx="1" type="body"/>
          </p:nvPr>
        </p:nvSpPr>
        <p:spPr>
          <a:xfrm>
            <a:off x="311700" y="1709200"/>
            <a:ext cx="56892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Controla la disposición y visibilidad de los elementos en la página.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Propiedades: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display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block</a:t>
            </a:r>
            <a:r>
              <a:rPr lang="es"/>
              <a:t>, inline, flex, grid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position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static, relative, absolute, fixed, sticky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float </a:t>
            </a:r>
            <a:r>
              <a:rPr b="1" lang="es"/>
              <a:t>-&gt;</a:t>
            </a:r>
            <a:r>
              <a:rPr b="1" lang="es"/>
              <a:t> </a:t>
            </a:r>
            <a:r>
              <a:rPr lang="es"/>
              <a:t>izquierda o derecha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z-index </a:t>
            </a:r>
            <a:r>
              <a:rPr b="1" lang="es"/>
              <a:t>-&gt;</a:t>
            </a:r>
            <a:r>
              <a:rPr lang="es"/>
              <a:t> orden en capas</a:t>
            </a:r>
            <a:endParaRPr sz="2951"/>
          </a:p>
        </p:txBody>
      </p:sp>
      <p:sp>
        <p:nvSpPr>
          <p:cNvPr id="244" name="Google Shape;24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6 - Propiedades más comunes</a:t>
            </a:r>
            <a:endParaRPr/>
          </a:p>
        </p:txBody>
      </p:sp>
      <p:sp>
        <p:nvSpPr>
          <p:cNvPr id="245" name="Google Shape;245;p4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visual y posicionamiento</a:t>
            </a:r>
            <a:endParaRPr/>
          </a:p>
        </p:txBody>
      </p:sp>
      <p:sp>
        <p:nvSpPr>
          <p:cNvPr id="246" name="Google Shape;246;p42"/>
          <p:cNvSpPr txBox="1"/>
          <p:nvPr/>
        </p:nvSpPr>
        <p:spPr>
          <a:xfrm>
            <a:off x="5959925" y="1787975"/>
            <a:ext cx="31104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flex;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relative;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z-index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9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unidades en CSS permiten controlar tamaños, distancias y proporciones de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Existen dos tipos principales: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Unidades absolutas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Unidades relativas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Elegir la unidad correcta es clave para diseños adaptables y consistentes.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Tienen un tamaño fijo, independiente del contenedor o pantalla.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Principales unidades: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px -&gt;</a:t>
            </a:r>
            <a:r>
              <a:rPr lang="es"/>
              <a:t> píxeles (unidad más común)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cm, mm, in -&gt;</a:t>
            </a:r>
            <a:r>
              <a:rPr lang="es"/>
              <a:t> centímetros, milímetros, pulgadas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pt, pc -&gt;</a:t>
            </a:r>
            <a:r>
              <a:rPr lang="es"/>
              <a:t> puntos y picas (tipografía)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 son ideales para diseño responsivo.</a:t>
            </a:r>
            <a:endParaRPr/>
          </a:p>
        </p:txBody>
      </p:sp>
      <p:sp>
        <p:nvSpPr>
          <p:cNvPr id="259" name="Google Shape;259;p4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absolutas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16px</a:t>
            </a: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No son ideales para diseño responsivo.</a:t>
            </a:r>
            <a:endParaRPr/>
          </a:p>
        </p:txBody>
      </p:sp>
      <p:sp>
        <p:nvSpPr>
          <p:cNvPr id="266" name="Google Shape;266;p4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absolutas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basan en el tamaño de la fuente, contenedor o viewport, ideales para diseño adaptable.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Principales unidades: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em -&gt;</a:t>
            </a:r>
            <a:r>
              <a:rPr lang="es"/>
              <a:t> relativo al tamaño de fuente del elemento padre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rem -&gt; </a:t>
            </a:r>
            <a:r>
              <a:rPr lang="es"/>
              <a:t>relativo al tamaño de fuente raíz (&lt;html&gt;)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% -&gt; </a:t>
            </a:r>
            <a:r>
              <a:rPr lang="es"/>
              <a:t>relativo al contenedor padre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vh -&gt; </a:t>
            </a:r>
            <a:r>
              <a:rPr lang="es"/>
              <a:t>porcentaje de la altura de la ventana (viewport)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vw -&gt; </a:t>
            </a:r>
            <a:r>
              <a:rPr lang="es"/>
              <a:t>porcentaje del ancho de la ventana</a:t>
            </a:r>
            <a:endParaRPr/>
          </a:p>
        </p:txBody>
      </p:sp>
      <p:sp>
        <p:nvSpPr>
          <p:cNvPr id="273" name="Google Shape;273;p4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relativas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2rem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lang="es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2 veces el tamaño de fuente raíz */</a:t>
            </a:r>
            <a:endParaRPr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       </a:t>
            </a:r>
            <a:r>
              <a:rPr lang="es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Mitad del ancho del contenedor */</a:t>
            </a:r>
            <a:endParaRPr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50vh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     </a:t>
            </a:r>
            <a:r>
              <a:rPr lang="es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Mitad de la altura de la ventana */</a:t>
            </a:r>
            <a:endParaRPr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280" name="Google Shape;280;p4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relativas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7 - Unidades y medidas</a:t>
            </a:r>
            <a:endParaRPr/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Tipografía base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tamaño base para toda la página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Títulos y párrafos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.titulo-principal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2rem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2 veces el tamaño base (32px)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bold;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.texto-principal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1rem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tamaño base (16px)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4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Buenas pr</a:t>
            </a:r>
            <a:r>
              <a:rPr lang="es"/>
              <a:t>ácticas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los primeros días del diseño web, las páginas se diseñaban para llenar un tamaño de pantalla en particular.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 el usuario tenía una pantalla más grande o más pequeña que la del diseñador, aparecían: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Barras de desplazamiento no deseadas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Longitudes de línea excesivamente largas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mal uso del espacio.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pic>
        <p:nvPicPr>
          <p:cNvPr id="299" name="Google Shape;299;p50" title="Captura de pantalla 2025-10-22 a las 11.07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50" y="1434176"/>
            <a:ext cx="8395100" cy="31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05" name="Google Shape;305;p51"/>
          <p:cNvSpPr txBox="1"/>
          <p:nvPr>
            <p:ph idx="1" type="body"/>
          </p:nvPr>
        </p:nvSpPr>
        <p:spPr>
          <a:xfrm>
            <a:off x="311700" y="1152475"/>
            <a:ext cx="566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medida que estuvieron disponibles tamaños de pantalla más diversos, apareció el concepto de diseño web responsivo (RWD, responsive web design):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 </a:t>
            </a:r>
            <a:r>
              <a:rPr b="1" lang="es"/>
              <a:t>conjunto de prácticas</a:t>
            </a:r>
            <a:r>
              <a:rPr lang="es"/>
              <a:t> que permite a las páginas web </a:t>
            </a:r>
            <a:r>
              <a:rPr b="1" lang="es"/>
              <a:t>alterar su diseño</a:t>
            </a:r>
            <a:r>
              <a:rPr lang="es"/>
              <a:t> y </a:t>
            </a:r>
            <a:r>
              <a:rPr b="1" lang="es"/>
              <a:t>apariencia</a:t>
            </a:r>
            <a:r>
              <a:rPr lang="es"/>
              <a:t> para adaptarse a diferentes anchos de pantalla, resoluciones, etc.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Esta idea cambió la forma en que diseñamos para una web multidispositivo.</a:t>
            </a:r>
            <a:endParaRPr/>
          </a:p>
        </p:txBody>
      </p:sp>
      <p:pic>
        <p:nvPicPr>
          <p:cNvPr id="306" name="Google Shape;3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29" y="1993525"/>
            <a:ext cx="3097649" cy="2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12" name="Google Shape;312;p52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Garantizar una experiencia de usuario óptima en cualquier dispositivo.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Adaptar el contenido al espacio disponible.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Evitar desplazamientos horizontales o zoom innecesario.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Mejorar la accesibilidad y la usabilidad.</a:t>
            </a:r>
            <a:endParaRPr/>
          </a:p>
        </p:txBody>
      </p:sp>
      <p:sp>
        <p:nvSpPr>
          <p:cNvPr id="313" name="Google Shape;313;p5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19" name="Google Shape;319;p53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Diseño fluido:</a:t>
            </a:r>
            <a:r>
              <a:rPr lang="es"/>
              <a:t> usar unidades relativas (%, em, rem, vh, vw) en lugar de píxeles fijos.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Imágenes flexibles:</a:t>
            </a:r>
            <a:r>
              <a:rPr lang="es"/>
              <a:t> tamaño automático según el contenedor.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Media Queries:</a:t>
            </a:r>
            <a:r>
              <a:rPr lang="es"/>
              <a:t> cambiar estilos según el ancho de la pantalla.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Mobile First:</a:t>
            </a:r>
            <a:r>
              <a:rPr lang="es"/>
              <a:t> diseñar primero para dispositivos móviles y luego ampliar para pantallas mayores.</a:t>
            </a:r>
            <a:endParaRPr/>
          </a:p>
        </p:txBody>
      </p:sp>
      <p:sp>
        <p:nvSpPr>
          <p:cNvPr id="320" name="Google Shape;320;p53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Principios clave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26" name="Google Shape;326;p54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Permiten aplicar diferentes reglas CSS según características del dispositivo: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768px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lightblue;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 Queries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33" name="Google Shape;333;p55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768px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lightblue;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Pantallas menores de 768px → fondo azul claro.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Pantallas mayores → fondo normal.</a:t>
            </a:r>
            <a:endParaRPr/>
          </a:p>
        </p:txBody>
      </p:sp>
      <p:sp>
        <p:nvSpPr>
          <p:cNvPr id="334" name="Google Shape;334;p5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Media Queries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estrategia Mobile First consiste en: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Empezar diseñando para móviles.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Añadir estilos progresivamente para pantallas más grandes.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Mobile First</a:t>
            </a:r>
            <a:endParaRPr/>
          </a:p>
        </p:txBody>
      </p:sp>
      <p:sp>
        <p:nvSpPr>
          <p:cNvPr id="342" name="Google Shape;342;p56"/>
          <p:cNvSpPr txBox="1"/>
          <p:nvPr/>
        </p:nvSpPr>
        <p:spPr>
          <a:xfrm>
            <a:off x="2813375" y="2709900"/>
            <a:ext cx="51348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Estilos base para móviles */</a:t>
            </a:r>
            <a:endParaRPr sz="1407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7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407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1rem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Estilos para pantallas grandes */</a:t>
            </a:r>
            <a:endParaRPr sz="1407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407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407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768px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407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407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407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1.2rem</a:t>
            </a: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7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Usar propiedades como: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Evita que las imágenes sobresalgan del contenedor.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Mantiene proporciones.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Imágenes y elementos flexibles</a:t>
            </a:r>
            <a:endParaRPr/>
          </a:p>
        </p:txBody>
      </p:sp>
      <p:sp>
        <p:nvSpPr>
          <p:cNvPr id="350" name="Google Shape;350;p57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auto;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7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56" name="Google Shape;356;p58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Usar propiedades como: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% →</a:t>
            </a:r>
            <a:r>
              <a:rPr lang="es"/>
              <a:t> relativo al elemento contenedor.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em, rem →</a:t>
            </a:r>
            <a:r>
              <a:rPr lang="es"/>
              <a:t> relativo al tamaño de fuente.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vw, vh →</a:t>
            </a:r>
            <a:r>
              <a:rPr lang="es"/>
              <a:t> relativo al ancho/alto de la ventana del navegador.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relativas</a:t>
            </a:r>
            <a:endParaRPr/>
          </a:p>
        </p:txBody>
      </p:sp>
      <p:sp>
        <p:nvSpPr>
          <p:cNvPr id="358" name="Google Shape;358;p58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80% del ancho visible */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80vw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64" name="Google Shape;364;p59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Las media queries permiten aplicar CSS solo cuando se cumplen ciertas condiciones del dispositivo o del navegador.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Son esenciales en el Diseño Web Adaptativo (Responsive Web Design).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7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Fundamentos de las Media Queries en CSS</a:t>
            </a:r>
            <a:endParaRPr/>
          </a:p>
        </p:txBody>
      </p:sp>
      <p:sp>
        <p:nvSpPr>
          <p:cNvPr id="366" name="Google Shape;366;p59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5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5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lightblue;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72" name="Google Shape;372;p60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Componentes: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Tipo de medio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screen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print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all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Regla o expresión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min-width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orientation.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Bloque de estilos que se aplican si la condición se cumple.</a:t>
            </a:r>
            <a:endParaRPr/>
          </a:p>
        </p:txBody>
      </p:sp>
      <p:sp>
        <p:nvSpPr>
          <p:cNvPr id="373" name="Google Shape;373;p6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Sintaxis básica</a:t>
            </a:r>
            <a:endParaRPr/>
          </a:p>
        </p:txBody>
      </p:sp>
      <p:sp>
        <p:nvSpPr>
          <p:cNvPr id="374" name="Google Shape;374;p60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media-type and (media-feature) {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3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Reglas CSS */</a:t>
            </a:r>
            <a:endParaRPr sz="13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all:</a:t>
            </a:r>
            <a:r>
              <a:rPr lang="es"/>
              <a:t> todos los dispositivos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print:</a:t>
            </a:r>
            <a:r>
              <a:rPr lang="es"/>
              <a:t> cuando se imprime la página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screen:</a:t>
            </a:r>
            <a:r>
              <a:rPr lang="es"/>
              <a:t> pantallas de dispositivos</a:t>
            </a:r>
            <a:endParaRPr/>
          </a:p>
        </p:txBody>
      </p:sp>
      <p:sp>
        <p:nvSpPr>
          <p:cNvPr id="381" name="Google Shape;381;p6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medios</a:t>
            </a:r>
            <a:endParaRPr/>
          </a:p>
        </p:txBody>
      </p:sp>
      <p:sp>
        <p:nvSpPr>
          <p:cNvPr id="382" name="Google Shape;382;p61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print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12pt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88" name="Google Shape;388;p62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width, height →</a:t>
            </a:r>
            <a:r>
              <a:rPr lang="es"/>
              <a:t> tamaño del viewport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orientation →</a:t>
            </a:r>
            <a:r>
              <a:rPr lang="es"/>
              <a:t> orientación del dispositivo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hover →</a:t>
            </a:r>
            <a:r>
              <a:rPr lang="es"/>
              <a:t> capacidad de pasar el ratón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pointer →</a:t>
            </a:r>
            <a:r>
              <a:rPr lang="es"/>
              <a:t> tipo de dispositivo señalador</a:t>
            </a:r>
            <a:endParaRPr/>
          </a:p>
        </p:txBody>
      </p:sp>
      <p:sp>
        <p:nvSpPr>
          <p:cNvPr id="389" name="Google Shape;389;p6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 de medios más comunes</a:t>
            </a:r>
            <a:endParaRPr/>
          </a:p>
        </p:txBody>
      </p:sp>
      <p:sp>
        <p:nvSpPr>
          <p:cNvPr id="390" name="Google Shape;390;p62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screen and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blue;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396" name="Google Shape;396;p63"/>
          <p:cNvSpPr txBox="1"/>
          <p:nvPr>
            <p:ph idx="1" type="body"/>
          </p:nvPr>
        </p:nvSpPr>
        <p:spPr>
          <a:xfrm>
            <a:off x="311700" y="1709200"/>
            <a:ext cx="7998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min-width:</a:t>
            </a:r>
            <a:r>
              <a:rPr lang="es"/>
              <a:t> aplica estilos a pantallas mayores o iguales a un ancho.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max-width:</a:t>
            </a:r>
            <a:r>
              <a:rPr lang="es"/>
              <a:t> aplica estilos a pantallas menores o iguales a un ancho.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usan para crear diseños que se adaptan gradualmente a cada ancho de pantalla.</a:t>
            </a:r>
            <a:endParaRPr/>
          </a:p>
        </p:txBody>
      </p:sp>
      <p:sp>
        <p:nvSpPr>
          <p:cNvPr id="397" name="Google Shape;397;p63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 y Max Width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03" name="Google Shape;403;p64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Orientación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portrait -&gt; Vertical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landscape -&gt; Horizontal</a:t>
            </a:r>
            <a:endParaRPr/>
          </a:p>
        </p:txBody>
      </p:sp>
      <p:sp>
        <p:nvSpPr>
          <p:cNvPr id="404" name="Google Shape;404;p6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Otras condiciones útiles</a:t>
            </a:r>
            <a:endParaRPr/>
          </a:p>
        </p:txBody>
      </p:sp>
      <p:sp>
        <p:nvSpPr>
          <p:cNvPr id="405" name="Google Shape;405;p64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3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11" name="Google Shape;411;p65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AND (and)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OR (coma)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NOT (not)</a:t>
            </a:r>
            <a:endParaRPr/>
          </a:p>
        </p:txBody>
      </p:sp>
      <p:sp>
        <p:nvSpPr>
          <p:cNvPr id="412" name="Google Shape;412;p6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Combinando condiciones</a:t>
            </a:r>
            <a:endParaRPr/>
          </a:p>
        </p:txBody>
      </p:sp>
      <p:sp>
        <p:nvSpPr>
          <p:cNvPr id="413" name="Google Shape;413;p65"/>
          <p:cNvSpPr txBox="1"/>
          <p:nvPr/>
        </p:nvSpPr>
        <p:spPr>
          <a:xfrm>
            <a:off x="621350" y="3020600"/>
            <a:ext cx="82935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screen and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and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not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19" name="Google Shape;419;p66"/>
          <p:cNvSpPr txBox="1"/>
          <p:nvPr>
            <p:ph idx="1" type="body"/>
          </p:nvPr>
        </p:nvSpPr>
        <p:spPr>
          <a:xfrm>
            <a:off x="311700" y="1709200"/>
            <a:ext cx="86031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breakpoints son los puntos donde el diseño cambia.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deben basarse en dispositivos específicos.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Cambia el diseño cuando el contenido empiece a romperse.</a:t>
            </a:r>
            <a:endParaRPr/>
          </a:p>
        </p:txBody>
      </p:sp>
      <p:sp>
        <p:nvSpPr>
          <p:cNvPr id="420" name="Google Shape;420;p6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Elección de Breakpoints</a:t>
            </a:r>
            <a:endParaRPr/>
          </a:p>
        </p:txBody>
      </p:sp>
      <p:sp>
        <p:nvSpPr>
          <p:cNvPr id="421" name="Google Shape;421;p66"/>
          <p:cNvSpPr txBox="1"/>
          <p:nvPr/>
        </p:nvSpPr>
        <p:spPr>
          <a:xfrm>
            <a:off x="621350" y="3020600"/>
            <a:ext cx="82935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screen and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and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600px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not (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orientation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landscape) { ...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27" name="Google Shape;427;p67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Comienza con el diseño para pantallas pequeñas.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Añade media queries para pantallas más grandes.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Ventajas: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Mejor rendimiento en móviles.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Código más limpio y mantenible.</a:t>
            </a:r>
            <a:endParaRPr/>
          </a:p>
        </p:txBody>
      </p:sp>
      <p:sp>
        <p:nvSpPr>
          <p:cNvPr id="428" name="Google Shape;428;p6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 Mobile First</a:t>
            </a:r>
            <a:endParaRPr/>
          </a:p>
        </p:txBody>
      </p:sp>
      <p:sp>
        <p:nvSpPr>
          <p:cNvPr id="429" name="Google Shape;429;p67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Estilos base: móviles */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1em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Añade diseño para pantallas mayores */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min-width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40em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1.2em</a:t>
            </a: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35" name="Google Shape;435;p68"/>
          <p:cNvSpPr txBox="1"/>
          <p:nvPr>
            <p:ph idx="1" type="body"/>
          </p:nvPr>
        </p:nvSpPr>
        <p:spPr>
          <a:xfrm>
            <a:off x="311700" y="1709200"/>
            <a:ext cx="80595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Debe incluirse en el &lt;head&gt;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Hace que el navegador móvil use el ancho real del dispositivo, no uno simulado.</a:t>
            </a:r>
            <a:endParaRPr/>
          </a:p>
        </p:txBody>
      </p:sp>
      <p:sp>
        <p:nvSpPr>
          <p:cNvPr id="436" name="Google Shape;436;p6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 meta viewport</a:t>
            </a:r>
            <a:endParaRPr/>
          </a:p>
        </p:txBody>
      </p:sp>
      <p:sp>
        <p:nvSpPr>
          <p:cNvPr id="437" name="Google Shape;437;p68"/>
          <p:cNvSpPr txBox="1"/>
          <p:nvPr/>
        </p:nvSpPr>
        <p:spPr>
          <a:xfrm>
            <a:off x="543700" y="2520075"/>
            <a:ext cx="77670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name="viewport" content="width=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device-width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initial-scale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=1"&gt;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43" name="Google Shape;443;p69"/>
          <p:cNvSpPr txBox="1"/>
          <p:nvPr>
            <p:ph idx="1" type="body"/>
          </p:nvPr>
        </p:nvSpPr>
        <p:spPr>
          <a:xfrm>
            <a:off x="311700" y="1709200"/>
            <a:ext cx="82578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necesariamente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Flexbox, Grid y Multicolumna permiten diseños adaptables sin media queries.</a:t>
            </a:r>
            <a:endParaRPr/>
          </a:p>
        </p:txBody>
      </p:sp>
      <p:sp>
        <p:nvSpPr>
          <p:cNvPr id="444" name="Google Shape;444;p6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¿Siempre necesitas media queries?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50" name="Google Shape;450;p70"/>
          <p:cNvSpPr txBox="1"/>
          <p:nvPr>
            <p:ph idx="1" type="body"/>
          </p:nvPr>
        </p:nvSpPr>
        <p:spPr>
          <a:xfrm>
            <a:off x="311700" y="1709200"/>
            <a:ext cx="82578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método </a:t>
            </a:r>
            <a:r>
              <a:rPr b="1" lang="es"/>
              <a:t>potente y moderno</a:t>
            </a:r>
            <a:r>
              <a:rPr lang="es"/>
              <a:t> para crear diseños adaptables y ordenados.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Flexbox (Flexible Box Layout) permite diseñar en una dimensión: fila o columna.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elementos se ensanchan o encogen automáticamente según el espacio disponible.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Facilita la creación de estructuras dinámicas y centradas.</a:t>
            </a:r>
            <a:endParaRPr/>
          </a:p>
        </p:txBody>
      </p:sp>
      <p:sp>
        <p:nvSpPr>
          <p:cNvPr id="451" name="Google Shape;451;p7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Flexbox: Diseño flexible unidimensional en CSS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57" name="Google Shape;457;p7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Flexbox: Diseño flexible unidimensional en CSS</a:t>
            </a:r>
            <a:endParaRPr/>
          </a:p>
        </p:txBody>
      </p:sp>
      <p:pic>
        <p:nvPicPr>
          <p:cNvPr id="458" name="Google Shape;4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550" y="1649813"/>
            <a:ext cx="5478894" cy="318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64" name="Google Shape;464;p72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¿Por qué usar Flexbox?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Antes de Flexbox, se usaban métodos como: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Flotación (float)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Posicionamiento (position)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Problemas comunes: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Dificultad para centrar elementos.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Alturas de columnas desiguales.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Ajustes manuales según resolución.</a:t>
            </a:r>
            <a:endParaRPr/>
          </a:p>
        </p:txBody>
      </p:sp>
      <p:sp>
        <p:nvSpPr>
          <p:cNvPr id="465" name="Google Shape;465;p7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</a:t>
            </a:r>
            <a:endParaRPr/>
          </a:p>
        </p:txBody>
      </p:sp>
      <p:sp>
        <p:nvSpPr>
          <p:cNvPr id="466" name="Google Shape;466;p72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flex;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72" name="Google Shape;472;p73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3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</a:t>
            </a:r>
            <a:endParaRPr/>
          </a:p>
        </p:txBody>
      </p:sp>
      <p:sp>
        <p:nvSpPr>
          <p:cNvPr id="474" name="Google Shape;474;p73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flex;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80" name="Google Shape;480;p74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Terminología clave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Contenedor flex →</a:t>
            </a:r>
            <a:r>
              <a:rPr lang="es"/>
              <a:t> elemento con display: flex.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Elementos flexibles →</a:t>
            </a:r>
            <a:r>
              <a:rPr lang="es"/>
              <a:t> sus hijos directos.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Eje principal (main axis) →</a:t>
            </a:r>
            <a:r>
              <a:rPr lang="es"/>
              <a:t> dirección principal de los ítems.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Eje transversal (cross axis) →</a:t>
            </a:r>
            <a:r>
              <a:rPr lang="es"/>
              <a:t> dirección perpendicular.</a:t>
            </a:r>
            <a:endParaRPr/>
          </a:p>
        </p:txBody>
      </p:sp>
      <p:sp>
        <p:nvSpPr>
          <p:cNvPr id="481" name="Google Shape;481;p7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</a:t>
            </a:r>
            <a:endParaRPr/>
          </a:p>
        </p:txBody>
      </p:sp>
      <p:sp>
        <p:nvSpPr>
          <p:cNvPr id="482" name="Google Shape;482;p74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flex;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88" name="Google Shape;488;p75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Direcciones: flex-direction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Controla el eje principal.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Valores posibles: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row-reverse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column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column-reverse</a:t>
            </a:r>
            <a:endParaRPr/>
          </a:p>
        </p:txBody>
      </p:sp>
      <p:sp>
        <p:nvSpPr>
          <p:cNvPr id="489" name="Google Shape;489;p7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</a:t>
            </a:r>
            <a:endParaRPr/>
          </a:p>
        </p:txBody>
      </p:sp>
      <p:sp>
        <p:nvSpPr>
          <p:cNvPr id="490" name="Google Shape;490;p75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496" name="Google Shape;496;p76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Ajuste automático: flex-wrap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 que los elementos se desborden: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ítems saltan de línea según el espacio.</a:t>
            </a:r>
            <a:endParaRPr/>
          </a:p>
        </p:txBody>
      </p:sp>
      <p:sp>
        <p:nvSpPr>
          <p:cNvPr id="497" name="Google Shape;497;p7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Flexbox</a:t>
            </a:r>
            <a:endParaRPr/>
          </a:p>
        </p:txBody>
      </p:sp>
      <p:sp>
        <p:nvSpPr>
          <p:cNvPr id="498" name="Google Shape;498;p76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flex-wrap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wrap;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04" name="Google Shape;504;p77"/>
          <p:cNvSpPr txBox="1"/>
          <p:nvPr>
            <p:ph idx="1" type="body"/>
          </p:nvPr>
        </p:nvSpPr>
        <p:spPr>
          <a:xfrm>
            <a:off x="311700" y="1709200"/>
            <a:ext cx="43659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 puede incluir hasta tres valores: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grow:</a:t>
            </a:r>
            <a:r>
              <a:rPr lang="es"/>
              <a:t> cuánto crece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shrink:</a:t>
            </a:r>
            <a:r>
              <a:rPr lang="es"/>
              <a:t> cuánto encoge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basis:</a:t>
            </a:r>
            <a:r>
              <a:rPr lang="es"/>
              <a:t> tamaño base mínimo</a:t>
            </a:r>
            <a:endParaRPr/>
          </a:p>
        </p:txBody>
      </p:sp>
      <p:sp>
        <p:nvSpPr>
          <p:cNvPr id="505" name="Google Shape;505;p7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 completo y valores abreviados</a:t>
            </a:r>
            <a:endParaRPr/>
          </a:p>
        </p:txBody>
      </p:sp>
      <p:sp>
        <p:nvSpPr>
          <p:cNvPr id="506" name="Google Shape;506;p77"/>
          <p:cNvSpPr txBox="1"/>
          <p:nvPr/>
        </p:nvSpPr>
        <p:spPr>
          <a:xfrm>
            <a:off x="4850075" y="1777875"/>
            <a:ext cx="42201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flex-wrap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wrap;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12" name="Google Shape;512;p78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https://www.w3schools.com/css/css3_flexbox.asp</a:t>
            </a:r>
            <a:endParaRPr/>
          </a:p>
        </p:txBody>
      </p:sp>
      <p:sp>
        <p:nvSpPr>
          <p:cNvPr id="513" name="Google Shape;513;p7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Flex completo y valores abreviados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19" name="Google Shape;519;p79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CSS Grid es un sistema de diseño bidimensional para la web.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controlar filas y columnas de manera eficiente.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Ideal para layouts complejos.</a:t>
            </a:r>
            <a:endParaRPr/>
          </a:p>
        </p:txBody>
      </p:sp>
      <p:sp>
        <p:nvSpPr>
          <p:cNvPr id="520" name="Google Shape;520;p7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</a:t>
            </a:r>
            <a:endParaRPr/>
          </a:p>
        </p:txBody>
      </p:sp>
      <p:pic>
        <p:nvPicPr>
          <p:cNvPr id="521" name="Google Shape;52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175" y="2804775"/>
            <a:ext cx="3235375" cy="21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27" name="Google Shape;527;p80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diseño basado en filas y columnas.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Diferente de Flexbox (Flexbox es unidimensional, Grid es bidimensional).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colocar elementos en cualquier posición del grid.</a:t>
            </a:r>
            <a:endParaRPr/>
          </a:p>
        </p:txBody>
      </p:sp>
      <p:sp>
        <p:nvSpPr>
          <p:cNvPr id="528" name="Google Shape;528;p8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34" name="Google Shape;534;p81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Grid container:</a:t>
            </a:r>
            <a:r>
              <a:rPr lang="es"/>
              <a:t> elemento padre que contiene el grid.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Grid item:</a:t>
            </a:r>
            <a:r>
              <a:rPr lang="es"/>
              <a:t> elementos hijos dentro del grid.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Track:</a:t>
            </a:r>
            <a:r>
              <a:rPr lang="es"/>
              <a:t> fila o columna del grid.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Gap:</a:t>
            </a:r>
            <a:r>
              <a:rPr lang="es"/>
              <a:t> espacio entre filas o columnas.</a:t>
            </a:r>
            <a:endParaRPr/>
          </a:p>
        </p:txBody>
      </p:sp>
      <p:sp>
        <p:nvSpPr>
          <p:cNvPr id="535" name="Google Shape;535;p8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Terminología básica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41" name="Google Shape;541;p82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display</a:t>
            </a:r>
            <a:r>
              <a:rPr lang="es"/>
              <a:t>: grid; activa el grid.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grid-template-columns</a:t>
            </a:r>
            <a:r>
              <a:rPr lang="es"/>
              <a:t> define las co</a:t>
            </a:r>
            <a:r>
              <a:rPr lang="es"/>
              <a:t>l</a:t>
            </a:r>
            <a:r>
              <a:rPr lang="es"/>
              <a:t>umnas.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grid-template-rows</a:t>
            </a:r>
            <a:r>
              <a:rPr lang="es"/>
              <a:t> define las filas.</a:t>
            </a:r>
            <a:endParaRPr/>
          </a:p>
        </p:txBody>
      </p:sp>
      <p:sp>
        <p:nvSpPr>
          <p:cNvPr id="542" name="Google Shape;542;p82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</a:t>
            </a:r>
            <a:r>
              <a:rPr lang="es"/>
              <a:t>Crear un Grid</a:t>
            </a:r>
            <a:endParaRPr/>
          </a:p>
        </p:txBody>
      </p:sp>
      <p:sp>
        <p:nvSpPr>
          <p:cNvPr id="543" name="Google Shape;543;p82"/>
          <p:cNvSpPr txBox="1"/>
          <p:nvPr/>
        </p:nvSpPr>
        <p:spPr>
          <a:xfrm>
            <a:off x="1243200" y="3072275"/>
            <a:ext cx="63690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grid;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grid-template-rows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50px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49" name="Google Shape;549;p83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px, em, % –</a:t>
            </a:r>
            <a:r>
              <a:rPr lang="es"/>
              <a:t> valores fijos o relativos.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fr</a:t>
            </a:r>
            <a:r>
              <a:rPr lang="es"/>
              <a:t> – fracción del espacio disponible.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auto</a:t>
            </a:r>
            <a:r>
              <a:rPr lang="es"/>
              <a:t> – ajusta automáticamente según el contenido.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Ejemplo:</a:t>
            </a:r>
            <a:endParaRPr/>
          </a:p>
        </p:txBody>
      </p:sp>
      <p:sp>
        <p:nvSpPr>
          <p:cNvPr id="550" name="Google Shape;550;p83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</a:t>
            </a:r>
            <a:r>
              <a:rPr lang="es"/>
              <a:t>Unidades</a:t>
            </a:r>
            <a:endParaRPr/>
          </a:p>
        </p:txBody>
      </p:sp>
      <p:sp>
        <p:nvSpPr>
          <p:cNvPr id="551" name="Google Shape;551;p83"/>
          <p:cNvSpPr txBox="1"/>
          <p:nvPr/>
        </p:nvSpPr>
        <p:spPr>
          <a:xfrm>
            <a:off x="1243200" y="3072275"/>
            <a:ext cx="63690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lang="es" sz="2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1fr 2fr 1fr;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57" name="Google Shape;557;p84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Espacio entre filas y columnas:</a:t>
            </a:r>
            <a:endParaRPr/>
          </a:p>
        </p:txBody>
      </p:sp>
      <p:sp>
        <p:nvSpPr>
          <p:cNvPr id="558" name="Google Shape;558;p84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</a:t>
            </a:r>
            <a:r>
              <a:rPr lang="es"/>
              <a:t>Gaps</a:t>
            </a:r>
            <a:endParaRPr/>
          </a:p>
        </p:txBody>
      </p:sp>
      <p:sp>
        <p:nvSpPr>
          <p:cNvPr id="559" name="Google Shape;559;p84"/>
          <p:cNvSpPr txBox="1"/>
          <p:nvPr/>
        </p:nvSpPr>
        <p:spPr>
          <a:xfrm>
            <a:off x="1243200" y="3072275"/>
            <a:ext cx="63690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grid-gap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10px;       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filas y columnas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row-gap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20px;        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solo filas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column-gap</a:t>
            </a:r>
            <a:r>
              <a:rPr lang="es" sz="1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15px;      </a:t>
            </a:r>
            <a:r>
              <a:rPr lang="es" sz="1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 solo columnas */</a:t>
            </a:r>
            <a:endParaRPr sz="1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65" name="Google Shape;565;p85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Definir nombres de áreas:</a:t>
            </a:r>
            <a:endParaRPr/>
          </a:p>
        </p:txBody>
      </p:sp>
      <p:sp>
        <p:nvSpPr>
          <p:cNvPr id="566" name="Google Shape;566;p85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Posicionamiento de elementos</a:t>
            </a:r>
            <a:endParaRPr/>
          </a:p>
        </p:txBody>
      </p:sp>
      <p:sp>
        <p:nvSpPr>
          <p:cNvPr id="567" name="Google Shape;567;p85"/>
          <p:cNvSpPr txBox="1"/>
          <p:nvPr/>
        </p:nvSpPr>
        <p:spPr>
          <a:xfrm>
            <a:off x="561425" y="2425025"/>
            <a:ext cx="63690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grid-template-areas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"header header"</a:t>
            </a:r>
            <a:endParaRPr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"sidebar main"</a:t>
            </a:r>
            <a:endParaRPr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"footer footer"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.header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grid-area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header;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.sidebar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grid-area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sidebar;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.main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grid-area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main;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.footer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grid-area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footer; 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73" name="Google Shape;573;p86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items se colocan automáticamente si no se especifica posición.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repeat() simplifica la creación de columnas.</a:t>
            </a:r>
            <a:endParaRPr/>
          </a:p>
        </p:txBody>
      </p:sp>
      <p:sp>
        <p:nvSpPr>
          <p:cNvPr id="574" name="Google Shape;574;p86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</a:t>
            </a:r>
            <a:r>
              <a:rPr lang="es"/>
              <a:t>Grid Auto-Placement</a:t>
            </a:r>
            <a:endParaRPr/>
          </a:p>
        </p:txBody>
      </p:sp>
      <p:sp>
        <p:nvSpPr>
          <p:cNvPr id="575" name="Google Shape;575;p86"/>
          <p:cNvSpPr txBox="1"/>
          <p:nvPr/>
        </p:nvSpPr>
        <p:spPr>
          <a:xfrm>
            <a:off x="734025" y="3046400"/>
            <a:ext cx="63690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repeat(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1fr</a:t>
            </a: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8 -Responsive Design</a:t>
            </a:r>
            <a:endParaRPr/>
          </a:p>
        </p:txBody>
      </p:sp>
      <p:sp>
        <p:nvSpPr>
          <p:cNvPr id="581" name="Google Shape;581;p87"/>
          <p:cNvSpPr txBox="1"/>
          <p:nvPr>
            <p:ph idx="1" type="body"/>
          </p:nvPr>
        </p:nvSpPr>
        <p:spPr>
          <a:xfrm>
            <a:off x="311700" y="1709200"/>
            <a:ext cx="82320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Control total del layout bidimensional.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Compatible con Flexbox (combinación poderosa).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Mantener nombres de áreas claros.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Usar fracciones para layouts flexibles.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Evitar anidar grids innecesariamente.</a:t>
            </a:r>
            <a:endParaRPr/>
          </a:p>
        </p:txBody>
      </p:sp>
      <p:sp>
        <p:nvSpPr>
          <p:cNvPr id="582" name="Google Shape;582;p87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Grid Layout - </a:t>
            </a:r>
            <a:r>
              <a:rPr lang="es"/>
              <a:t>Ventajas y Buenas Prácticas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9</a:t>
            </a:r>
            <a:r>
              <a:rPr lang="es" sz="1829">
                <a:solidFill>
                  <a:schemeClr val="dk2"/>
                </a:solidFill>
              </a:rPr>
              <a:t> - Animaciones</a:t>
            </a:r>
            <a:endParaRPr/>
          </a:p>
        </p:txBody>
      </p:sp>
      <p:sp>
        <p:nvSpPr>
          <p:cNvPr id="588" name="Google Shape;588;p88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son las animaciones en CSS?</a:t>
            </a:r>
            <a:endParaRPr/>
          </a:p>
        </p:txBody>
      </p:sp>
      <p:sp>
        <p:nvSpPr>
          <p:cNvPr id="589" name="Google Shape;589;p88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Permiten crear efectos de movimiento y transiciones suaves entre estados.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apl</a:t>
            </a:r>
            <a:r>
              <a:rPr lang="es"/>
              <a:t>i</a:t>
            </a:r>
            <a:r>
              <a:rPr lang="es"/>
              <a:t>can sin JavaScript.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Mejoran la experiencia de usuario y la interactividad visual.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9 - Animaciones</a:t>
            </a:r>
            <a:endParaRPr/>
          </a:p>
        </p:txBody>
      </p:sp>
      <p:sp>
        <p:nvSpPr>
          <p:cNvPr id="595" name="Google Shape;595;p89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animaciones</a:t>
            </a:r>
            <a:endParaRPr/>
          </a:p>
        </p:txBody>
      </p:sp>
      <p:sp>
        <p:nvSpPr>
          <p:cNvPr id="596" name="Google Shape;596;p89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Transiciones (transition)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Cambios simples entre dos estados.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Activadas por eventos como :hover o :focus.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Animaciones con keyframes (@keyframes)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Secuencias complejas con varios pasos.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Control total sobre el tiempo y la dirección.</a:t>
            </a:r>
            <a:endParaRPr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9 - Animaciones</a:t>
            </a:r>
            <a:endParaRPr/>
          </a:p>
        </p:txBody>
      </p:sp>
      <p:sp>
        <p:nvSpPr>
          <p:cNvPr id="602" name="Google Shape;602;p90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animaciones. Ejemplo</a:t>
            </a:r>
            <a:endParaRPr/>
          </a:p>
        </p:txBody>
      </p:sp>
      <p:sp>
        <p:nvSpPr>
          <p:cNvPr id="603" name="Google Shape;603;p90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red;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transition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220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s" sz="2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3s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ease;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button:hover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blue;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500"/>
          </a:p>
        </p:txBody>
      </p:sp>
      <p:sp>
        <p:nvSpPr>
          <p:cNvPr id="604" name="Google Shape;604;p90"/>
          <p:cNvSpPr txBox="1"/>
          <p:nvPr/>
        </p:nvSpPr>
        <p:spPr>
          <a:xfrm>
            <a:off x="361950" y="4600575"/>
            <a:ext cx="842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Resultado:</a:t>
            </a: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el color cambia suavemente al pasar el cursor.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29">
                <a:solidFill>
                  <a:schemeClr val="dk2"/>
                </a:solidFill>
              </a:rPr>
              <a:t>9 - Animaciones</a:t>
            </a:r>
            <a:endParaRPr/>
          </a:p>
        </p:txBody>
      </p:sp>
      <p:sp>
        <p:nvSpPr>
          <p:cNvPr id="610" name="Google Shape;610;p91"/>
          <p:cNvSpPr txBox="1"/>
          <p:nvPr>
            <p:ph idx="2" type="title"/>
          </p:nvPr>
        </p:nvSpPr>
        <p:spPr>
          <a:xfrm>
            <a:off x="311700" y="107711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animaciones. Ejemplo con @keyframes</a:t>
            </a:r>
            <a:endParaRPr/>
          </a:p>
        </p:txBody>
      </p:sp>
      <p:sp>
        <p:nvSpPr>
          <p:cNvPr id="611" name="Google Shape;611;p91"/>
          <p:cNvSpPr txBox="1"/>
          <p:nvPr>
            <p:ph idx="1" type="body"/>
          </p:nvPr>
        </p:nvSpPr>
        <p:spPr>
          <a:xfrm>
            <a:off x="311700" y="1709200"/>
            <a:ext cx="85206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@keyframes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mover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0%  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translateX(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50% 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translateX(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100% {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translateX(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.caja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animation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mover </a:t>
            </a:r>
            <a:r>
              <a:rPr lang="es" sz="1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2s</a:t>
            </a: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infinite ease-in-out;</a:t>
            </a:r>
            <a:endParaRPr sz="1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200">
              <a:solidFill>
                <a:srgbClr val="D7BA7D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2" name="Google Shape;612;p91"/>
          <p:cNvSpPr txBox="1"/>
          <p:nvPr/>
        </p:nvSpPr>
        <p:spPr>
          <a:xfrm>
            <a:off x="361950" y="4600575"/>
            <a:ext cx="842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Resultado:</a:t>
            </a: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 caja se mueve de un lado a otro.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AVI - UD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